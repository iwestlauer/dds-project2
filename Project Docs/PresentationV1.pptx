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modernComment_10B_D83D0607.xml" ContentType="application/vnd.ms-powerpoint.comment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E69AAEA-0C17-E85E-9E5C-BDF103642039}" name="Westlauer, Isabella" initials="IW" userId="S::iwestlauer@smu.edu::bb18fa9b-6a8b-4378-9cf7-3d16afb4bbc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8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omments/modernComment_10B_D83D060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106C621-492E-49C7-8CE5-8F7DAAA01633}" authorId="{DE69AAEA-0C17-E85E-9E5C-BDF103642039}" created="2026-04-12T21:57:24.394">
    <pc:sldMkLst xmlns:pc="http://schemas.microsoft.com/office/powerpoint/2013/main/command">
      <pc:docMk/>
      <pc:sldMk cId="3627877895" sldId="267"/>
    </pc:sldMkLst>
    <p188:txBody>
      <a:bodyPr/>
      <a:lstStyle/>
      <a:p>
        <a:r>
          <a:rPr lang="en-US"/>
          <a:t>Add 3 key insights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5462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A2090-728D-A81F-80F7-B235B35AD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B439AF-D8FD-07D0-0FF0-147A5FB367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A16BC2-E36C-154A-179D-9169AE410C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9169AE-D5EB-BC33-0DF1-E0FD0B81BD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0902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yc.gov/site/tlc/about/tlc-trip-record-data.page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B_D83D060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2264D"/>
          </a:solidFill>
          <a:ln w="12700">
            <a:solidFill>
              <a:srgbClr val="1226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668012"/>
            <a:ext cx="9144000" cy="47548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4668012"/>
            <a:ext cx="8887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Yellow Taxi Tip Prediction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84048" y="2560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kern="0" spc="250" dirty="0">
                <a:solidFill>
                  <a:srgbClr val="1C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 |  DOING DATA SCIENCE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11480" y="1213463"/>
            <a:ext cx="8595360" cy="19841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NYC Yellow Taxi</a:t>
            </a:r>
            <a:endParaRPr lang="en-US" sz="440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 Prediction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2743200" y="3243949"/>
            <a:ext cx="3657600" cy="25603"/>
          </a:xfrm>
          <a:prstGeom prst="rect">
            <a:avLst/>
          </a:prstGeom>
          <a:solidFill>
            <a:srgbClr val="12264D"/>
          </a:solidFill>
          <a:ln w="12700">
            <a:solidFill>
              <a:srgbClr val="1226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3335389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tip behavior from NYC yellow taxi trip data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and interactive tooling.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957181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Isabella Westlauer  ·  Josh Samuel</a:t>
            </a:r>
            <a:endParaRPr lang="en-US" sz="1400" dirty="0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D25276F6-F8F4-DABA-0622-F5F610B81098}"/>
              </a:ext>
            </a:extLst>
          </p:cNvPr>
          <p:cNvSpPr/>
          <p:nvPr/>
        </p:nvSpPr>
        <p:spPr>
          <a:xfrm>
            <a:off x="530352" y="121924"/>
            <a:ext cx="8083296" cy="1225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0"/>
              </a:lnSpc>
              <a:buNone/>
            </a:pPr>
            <a:r>
              <a:rPr lang="en-US" sz="8400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🚕</a:t>
            </a:r>
            <a:endParaRPr lang="en-US" sz="8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220" dirty="0">
                <a:solidFill>
                  <a:srgbClr val="1C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978408"/>
            <a:ext cx="8138160" cy="16459"/>
          </a:xfrm>
          <a:prstGeom prst="rect">
            <a:avLst/>
          </a:prstGeom>
          <a:solidFill>
            <a:srgbClr val="CFCDC8"/>
          </a:solidFill>
          <a:ln w="12700">
            <a:solidFill>
              <a:srgbClr val="CF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4009644" cy="1220724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9525">
            <a:solidFill>
              <a:srgbClr val="C2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55219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2264D"/>
          </a:solidFill>
          <a:ln w="12700">
            <a:solidFill>
              <a:srgbClr val="1226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55219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4128" y="1188720"/>
            <a:ext cx="33695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Goal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24128" y="1481328"/>
            <a:ext cx="3369564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the prediction question, business motivation, and what success looks like.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31436" y="1078992"/>
            <a:ext cx="4009644" cy="1220724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9525">
            <a:solidFill>
              <a:srgbClr val="C2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68596" y="155219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2264D"/>
          </a:solidFill>
          <a:ln w="12700">
            <a:solidFill>
              <a:srgbClr val="1226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68596" y="155219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152644" y="1188720"/>
            <a:ext cx="33695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Overview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152644" y="1481328"/>
            <a:ext cx="3369564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the source data, key variables, and target outcome.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2418588"/>
            <a:ext cx="4009644" cy="1220724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9525">
            <a:solidFill>
              <a:srgbClr val="C2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" y="289179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2264D"/>
          </a:solidFill>
          <a:ln w="12700">
            <a:solidFill>
              <a:srgbClr val="1226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289179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24128" y="2528316"/>
            <a:ext cx="33695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+ Data Quality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24128" y="2820924"/>
            <a:ext cx="3369564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major patterns, missing values, and outlier treatment.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31436" y="2418588"/>
            <a:ext cx="4009644" cy="1220724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9525">
            <a:solidFill>
              <a:srgbClr val="C2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68596" y="289179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2264D"/>
          </a:solidFill>
          <a:ln w="12700">
            <a:solidFill>
              <a:srgbClr val="1226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68596" y="289179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52644" y="2528316"/>
            <a:ext cx="33695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Modeling Workflow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152644" y="2820924"/>
            <a:ext cx="3369564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feature engineering, models tested, and evaluation strategy.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3758184"/>
            <a:ext cx="4009644" cy="1220724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9525">
            <a:solidFill>
              <a:srgbClr val="C2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0080" y="423138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2264D"/>
          </a:solidFill>
          <a:ln w="12700">
            <a:solidFill>
              <a:srgbClr val="1226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423138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24128" y="3867912"/>
            <a:ext cx="33695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RShiny App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24128" y="4160520"/>
            <a:ext cx="3369564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the interactive interface and user-facing value.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31436" y="3758184"/>
            <a:ext cx="4009644" cy="1220724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9525">
            <a:solidFill>
              <a:srgbClr val="C2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68596" y="423138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2264D"/>
          </a:solidFill>
          <a:ln w="12700">
            <a:solidFill>
              <a:srgbClr val="1226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68596" y="423138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152644" y="3867912"/>
            <a:ext cx="33695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+ Takeaways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152644" y="4160520"/>
            <a:ext cx="3369564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retrieval component, lessons learned, and next steps.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220" dirty="0">
                <a:solidFill>
                  <a:srgbClr val="1C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FRAMING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Goal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978408"/>
            <a:ext cx="8138160" cy="16459"/>
          </a:xfrm>
          <a:prstGeom prst="rect">
            <a:avLst/>
          </a:prstGeom>
          <a:solidFill>
            <a:srgbClr val="CFCDC8"/>
          </a:solidFill>
          <a:ln w="12700">
            <a:solidFill>
              <a:srgbClr val="CF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4005072" cy="3899916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 w="9525">
            <a:solidFill>
              <a:srgbClr val="C2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04088" y="1225296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question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04088" y="1536192"/>
            <a:ext cx="3730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accurately can we predict tip behavior for NYC yellow taxi rides using trip, fare, and payment-related features?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04088" y="2249424"/>
            <a:ext cx="3730752" cy="14630"/>
          </a:xfrm>
          <a:prstGeom prst="rect">
            <a:avLst/>
          </a:prstGeom>
          <a:solidFill>
            <a:srgbClr val="CFCDC8"/>
          </a:solidFill>
          <a:ln w="12700">
            <a:solidFill>
              <a:srgbClr val="CF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04088" y="2340864"/>
            <a:ext cx="3730752" cy="2473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spcAft>
                <a:spcPts val="1400"/>
              </a:spcAft>
              <a:buSzPct val="100000"/>
              <a:buChar char="•"/>
            </a:pPr>
            <a:r>
              <a:rPr lang="en-US" sz="105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predict how much a rider will tip, and what can we learn about tipping behavior in NYC Yellow Taxis?</a:t>
            </a:r>
            <a:endParaRPr lang="en-US" sz="1050" dirty="0"/>
          </a:p>
          <a:p>
            <a:pPr marL="101600" indent="-101600">
              <a:spcAft>
                <a:spcPts val="1400"/>
              </a:spcAft>
              <a:buSzPct val="100000"/>
              <a:buChar char="•"/>
            </a:pPr>
            <a:r>
              <a:rPr lang="en-US" sz="105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prediction is a microcosm for complex, human-driven predictive modeling.</a:t>
            </a:r>
          </a:p>
          <a:p>
            <a:pPr marL="101600" indent="-101600">
              <a:spcAft>
                <a:spcPts val="1400"/>
              </a:spcAft>
              <a:buSzPct val="100000"/>
              <a:buChar char="•"/>
            </a:pPr>
            <a:r>
              <a:rPr lang="en-US" sz="105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predict tip amount to be relatively well-correlated with fare amount, possibly with seasonal variation depending on time of the year.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36008" y="1078992"/>
            <a:ext cx="4005072" cy="2105955"/>
          </a:xfrm>
          <a:prstGeom prst="roundRect">
            <a:avLst>
              <a:gd name="adj" fmla="val 3908"/>
            </a:avLst>
          </a:prstGeom>
          <a:solidFill>
            <a:srgbClr val="EBEEF5"/>
          </a:solidFill>
          <a:ln w="9525">
            <a:solidFill>
              <a:srgbClr val="C2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37176" y="1225296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to add here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37176" y="1536192"/>
            <a:ext cx="3730752" cy="1465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problem statement, 1–2 motivation bullets, and possibly a simple visual such as a taxi icon, map, or workflow diagram.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36008" y="3303819"/>
            <a:ext cx="1280160" cy="1675089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2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36008" y="3303819"/>
            <a:ext cx="1280160" cy="16750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Model Target RMSE ≤ 2 and MAE ≤ 1.5 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98464" y="3303819"/>
            <a:ext cx="1280160" cy="1675089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2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98464" y="3303819"/>
            <a:ext cx="1280160" cy="16750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NYC Yellow Taxi Data from nyc.gov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60920" y="3303819"/>
            <a:ext cx="1280160" cy="1675089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2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60920" y="3303819"/>
            <a:ext cx="1280160" cy="16750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 business profitability by optimizing data-driven decisions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220" dirty="0">
                <a:solidFill>
                  <a:srgbClr val="1C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978408"/>
            <a:ext cx="8138160" cy="16459"/>
          </a:xfrm>
          <a:prstGeom prst="rect">
            <a:avLst/>
          </a:prstGeom>
          <a:solidFill>
            <a:srgbClr val="CFCDC8"/>
          </a:solidFill>
          <a:ln w="12700">
            <a:solidFill>
              <a:srgbClr val="CF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4005072" cy="3899916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 w="9525">
            <a:solidFill>
              <a:srgbClr val="C2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04088" y="1225296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facts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04088" y="1554480"/>
            <a:ext cx="3730752" cy="32415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spcAft>
                <a:spcPts val="1800"/>
              </a:spcAft>
              <a:buSzPct val="100000"/>
              <a:buChar char="•"/>
            </a:pPr>
            <a:r>
              <a:rPr lang="en-US" sz="105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05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https://www.nyc.gov/site/tlc/about/tlc-trip-record-data.page</a:t>
            </a:r>
            <a:r>
              <a:rPr lang="en-US" sz="105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records for January 1 – December 31, 2025</a:t>
            </a:r>
            <a:endParaRPr lang="en-US" sz="1050" dirty="0"/>
          </a:p>
          <a:p>
            <a:pPr marL="101600" indent="-101600">
              <a:spcAft>
                <a:spcPts val="1800"/>
              </a:spcAft>
              <a:buSzPct val="100000"/>
              <a:buChar char="•"/>
            </a:pPr>
            <a:r>
              <a:rPr lang="en-US" sz="105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 after filtering and sampling, 10,008 observations of 14 variables</a:t>
            </a:r>
            <a:endParaRPr lang="en-US" sz="1050" dirty="0"/>
          </a:p>
          <a:p>
            <a:pPr marL="101600" indent="-101600">
              <a:spcAft>
                <a:spcPts val="1800"/>
              </a:spcAft>
              <a:buSzPct val="100000"/>
              <a:buChar char="•"/>
            </a:pPr>
            <a:r>
              <a:rPr lang="en-US" sz="105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of analysis: one row represents one taxi trip.</a:t>
            </a:r>
            <a:endParaRPr lang="en-US" sz="1050" dirty="0"/>
          </a:p>
          <a:p>
            <a:pPr marL="101600" indent="-101600">
              <a:spcAft>
                <a:spcPts val="1800"/>
              </a:spcAft>
              <a:buSzPct val="100000"/>
              <a:buChar char="•"/>
            </a:pPr>
            <a:r>
              <a:rPr lang="en-US" sz="105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tip amount in $USD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36008" y="1078992"/>
            <a:ext cx="4005072" cy="3899916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 w="9525">
            <a:solidFill>
              <a:srgbClr val="C2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37176" y="1225296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Candidate features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37176" y="1554480"/>
            <a:ext cx="1755648" cy="1007364"/>
          </a:xfrm>
          <a:prstGeom prst="roundRect">
            <a:avLst>
              <a:gd name="adj" fmla="val 6354"/>
            </a:avLst>
          </a:prstGeom>
          <a:solidFill>
            <a:srgbClr val="EBEEF5"/>
          </a:solidFill>
          <a:ln w="9525">
            <a:solidFill>
              <a:srgbClr val="CF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37176" y="1554480"/>
            <a:ext cx="1755648" cy="1007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2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/ </a:t>
            </a:r>
            <a:r>
              <a:rPr lang="en-US" sz="950" dirty="0" err="1">
                <a:solidFill>
                  <a:srgbClr val="12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dropoff</a:t>
            </a:r>
            <a:r>
              <a:rPr lang="en-US" sz="950" dirty="0">
                <a:solidFill>
                  <a:srgbClr val="12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datetime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684264" y="1554480"/>
            <a:ext cx="1755648" cy="1007364"/>
          </a:xfrm>
          <a:prstGeom prst="roundRect">
            <a:avLst>
              <a:gd name="adj" fmla="val 6354"/>
            </a:avLst>
          </a:prstGeom>
          <a:solidFill>
            <a:srgbClr val="EBEEF5"/>
          </a:solidFill>
          <a:ln w="9525">
            <a:solidFill>
              <a:srgbClr val="CF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84264" y="1554480"/>
            <a:ext cx="1755648" cy="1007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2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distance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37176" y="2653284"/>
            <a:ext cx="1755648" cy="1007364"/>
          </a:xfrm>
          <a:prstGeom prst="roundRect">
            <a:avLst>
              <a:gd name="adj" fmla="val 6354"/>
            </a:avLst>
          </a:prstGeom>
          <a:solidFill>
            <a:srgbClr val="EBEEF5"/>
          </a:solidFill>
          <a:ln w="9525">
            <a:solidFill>
              <a:srgbClr val="CF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37176" y="2653284"/>
            <a:ext cx="1755648" cy="1007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2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count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684264" y="2653284"/>
            <a:ext cx="1755648" cy="1007364"/>
          </a:xfrm>
          <a:prstGeom prst="roundRect">
            <a:avLst>
              <a:gd name="adj" fmla="val 6354"/>
            </a:avLst>
          </a:prstGeom>
          <a:solidFill>
            <a:srgbClr val="EBEEF5"/>
          </a:solidFill>
          <a:ln w="9525">
            <a:solidFill>
              <a:srgbClr val="CF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84264" y="2653284"/>
            <a:ext cx="1755648" cy="1007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2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amount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37176" y="3752088"/>
            <a:ext cx="1755648" cy="1007364"/>
          </a:xfrm>
          <a:prstGeom prst="roundRect">
            <a:avLst>
              <a:gd name="adj" fmla="val 6354"/>
            </a:avLst>
          </a:prstGeom>
          <a:solidFill>
            <a:srgbClr val="EBEEF5"/>
          </a:solidFill>
          <a:ln w="9525">
            <a:solidFill>
              <a:srgbClr val="CF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37176" y="3752088"/>
            <a:ext cx="1755648" cy="1007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2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month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684264" y="3752088"/>
            <a:ext cx="1755648" cy="1007364"/>
          </a:xfrm>
          <a:prstGeom prst="roundRect">
            <a:avLst>
              <a:gd name="adj" fmla="val 6354"/>
            </a:avLst>
          </a:prstGeom>
          <a:solidFill>
            <a:srgbClr val="EBEEF5"/>
          </a:solidFill>
          <a:ln w="9525">
            <a:solidFill>
              <a:srgbClr val="CF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684264" y="3752088"/>
            <a:ext cx="1755648" cy="1007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2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/ dropoff zone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220" dirty="0">
                <a:solidFill>
                  <a:srgbClr val="1C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Exploratory Data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978408"/>
            <a:ext cx="8138160" cy="16459"/>
          </a:xfrm>
          <a:prstGeom prst="rect">
            <a:avLst/>
          </a:prstGeom>
          <a:solidFill>
            <a:srgbClr val="CFCDC8"/>
          </a:solidFill>
          <a:ln w="12700">
            <a:solidFill>
              <a:srgbClr val="CF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2651760" cy="1559966"/>
          </a:xfrm>
          <a:prstGeom prst="roundRect">
            <a:avLst>
              <a:gd name="adj" fmla="val 5275"/>
            </a:avLst>
          </a:prstGeom>
          <a:solidFill>
            <a:srgbClr val="FFFFFF"/>
          </a:solidFill>
          <a:ln w="9525">
            <a:solidFill>
              <a:srgbClr val="C2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170432"/>
            <a:ext cx="2377440" cy="256032"/>
          </a:xfrm>
          <a:prstGeom prst="roundRect">
            <a:avLst>
              <a:gd name="adj" fmla="val 21429"/>
            </a:avLst>
          </a:prstGeom>
          <a:solidFill>
            <a:srgbClr val="EBEEF5"/>
          </a:solidFill>
          <a:ln w="6350">
            <a:solidFill>
              <a:srgbClr val="CF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7043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58368" y="1499616"/>
            <a:ext cx="2340864" cy="9930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 chart for tip amount or tip percentage distribution and summarize what it shows.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078992"/>
            <a:ext cx="2651760" cy="1559966"/>
          </a:xfrm>
          <a:prstGeom prst="roundRect">
            <a:avLst>
              <a:gd name="adj" fmla="val 5275"/>
            </a:avLst>
          </a:prstGeom>
          <a:solidFill>
            <a:srgbClr val="FFFFFF"/>
          </a:solidFill>
          <a:ln w="9525">
            <a:solidFill>
              <a:srgbClr val="C2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83280" y="1170432"/>
            <a:ext cx="2377440" cy="256032"/>
          </a:xfrm>
          <a:prstGeom prst="roundRect">
            <a:avLst>
              <a:gd name="adj" fmla="val 21429"/>
            </a:avLst>
          </a:prstGeom>
          <a:solidFill>
            <a:srgbClr val="EBEEF5"/>
          </a:solidFill>
          <a:ln w="6350">
            <a:solidFill>
              <a:srgbClr val="CF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0" y="117043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Patterns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01568" y="1499616"/>
            <a:ext cx="2340864" cy="9930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estimate of the slope shows for every $6 the fare increases, the tip increases $1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89320" y="1078992"/>
            <a:ext cx="2651760" cy="1559966"/>
          </a:xfrm>
          <a:prstGeom prst="roundRect">
            <a:avLst>
              <a:gd name="adj" fmla="val 5275"/>
            </a:avLst>
          </a:prstGeom>
          <a:solidFill>
            <a:srgbClr val="FFFFFF"/>
          </a:solidFill>
          <a:ln w="9525">
            <a:solidFill>
              <a:srgbClr val="C2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26480" y="1170432"/>
            <a:ext cx="2377440" cy="256032"/>
          </a:xfrm>
          <a:prstGeom prst="roundRect">
            <a:avLst>
              <a:gd name="adj" fmla="val 21429"/>
            </a:avLst>
          </a:prstGeom>
          <a:solidFill>
            <a:srgbClr val="EBEEF5"/>
          </a:solidFill>
          <a:ln w="6350">
            <a:solidFill>
              <a:srgbClr val="CF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0" y="117043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effects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144768" y="1499616"/>
            <a:ext cx="2340864" cy="9930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space for hour-of-day, day-of-week, or trip-length trends if they mattered.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2748686"/>
            <a:ext cx="8138160" cy="2230222"/>
          </a:xfrm>
          <a:prstGeom prst="roundRect">
            <a:avLst>
              <a:gd name="adj" fmla="val 3690"/>
            </a:avLst>
          </a:prstGeom>
          <a:solidFill>
            <a:srgbClr val="EBEEF5"/>
          </a:solidFill>
          <a:ln w="9525">
            <a:solidFill>
              <a:srgbClr val="C2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2748686"/>
            <a:ext cx="8138160" cy="2230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301AE63-CC49-6D45-9580-89AD22F9C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4870" y="2967266"/>
            <a:ext cx="3657600" cy="1625600"/>
          </a:xfrm>
          <a:prstGeom prst="roundRect">
            <a:avLst>
              <a:gd name="adj" fmla="val 7603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1FE2FE2-E32C-9DBD-E3A9-BFF65D257F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31" y="2967266"/>
            <a:ext cx="3657600" cy="1625600"/>
          </a:xfrm>
          <a:prstGeom prst="roundRect">
            <a:avLst>
              <a:gd name="adj" fmla="val 7603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0E75C5-1176-B460-9645-1B9CA911A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FCD065F-010C-CCD9-5649-64912D34857B}"/>
              </a:ext>
            </a:extLst>
          </p:cNvPr>
          <p:cNvSpPr/>
          <p:nvPr/>
        </p:nvSpPr>
        <p:spPr>
          <a:xfrm>
            <a:off x="502920" y="201168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220" dirty="0">
                <a:solidFill>
                  <a:srgbClr val="1C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7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E3B1B3C-D782-1E42-F158-13F95E149249}"/>
              </a:ext>
            </a:extLst>
          </p:cNvPr>
          <p:cNvSpPr/>
          <p:nvPr/>
        </p:nvSpPr>
        <p:spPr>
          <a:xfrm>
            <a:off x="502920" y="402336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Exploratory Data Analysis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EFFACD8-C4C8-C32C-60C5-A7210C654220}"/>
              </a:ext>
            </a:extLst>
          </p:cNvPr>
          <p:cNvSpPr/>
          <p:nvPr/>
        </p:nvSpPr>
        <p:spPr>
          <a:xfrm>
            <a:off x="502920" y="978408"/>
            <a:ext cx="8138160" cy="16459"/>
          </a:xfrm>
          <a:prstGeom prst="rect">
            <a:avLst/>
          </a:prstGeom>
          <a:solidFill>
            <a:srgbClr val="CFCDC8"/>
          </a:solidFill>
          <a:ln w="12700">
            <a:solidFill>
              <a:srgbClr val="CF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8C09464-6B1B-5A32-6303-5E6778987645}"/>
              </a:ext>
            </a:extLst>
          </p:cNvPr>
          <p:cNvSpPr/>
          <p:nvPr/>
        </p:nvSpPr>
        <p:spPr>
          <a:xfrm>
            <a:off x="502920" y="1078992"/>
            <a:ext cx="2651760" cy="1559966"/>
          </a:xfrm>
          <a:prstGeom prst="roundRect">
            <a:avLst>
              <a:gd name="adj" fmla="val 5275"/>
            </a:avLst>
          </a:prstGeom>
          <a:solidFill>
            <a:srgbClr val="FFFFFF"/>
          </a:solidFill>
          <a:ln w="9525">
            <a:solidFill>
              <a:srgbClr val="C2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7CF18D6-85D5-D869-86A9-7D86F440A239}"/>
              </a:ext>
            </a:extLst>
          </p:cNvPr>
          <p:cNvSpPr/>
          <p:nvPr/>
        </p:nvSpPr>
        <p:spPr>
          <a:xfrm>
            <a:off x="640080" y="1170432"/>
            <a:ext cx="2377440" cy="256032"/>
          </a:xfrm>
          <a:prstGeom prst="roundRect">
            <a:avLst>
              <a:gd name="adj" fmla="val 21429"/>
            </a:avLst>
          </a:prstGeom>
          <a:solidFill>
            <a:srgbClr val="EBEEF5"/>
          </a:solidFill>
          <a:ln w="6350">
            <a:solidFill>
              <a:srgbClr val="CF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B2BDB48-3B18-022E-3088-802D46E9A7DC}"/>
              </a:ext>
            </a:extLst>
          </p:cNvPr>
          <p:cNvSpPr/>
          <p:nvPr/>
        </p:nvSpPr>
        <p:spPr>
          <a:xfrm>
            <a:off x="640080" y="117043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Distribution</a:t>
            </a:r>
            <a:endParaRPr lang="en-US" sz="11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45DF719-1A43-395B-DDEE-FFBEFBE8D302}"/>
              </a:ext>
            </a:extLst>
          </p:cNvPr>
          <p:cNvSpPr/>
          <p:nvPr/>
        </p:nvSpPr>
        <p:spPr>
          <a:xfrm>
            <a:off x="658368" y="1499616"/>
            <a:ext cx="2340864" cy="9930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 chart for tip amount or tip percentage distribution and summarize what it shows.</a:t>
            </a:r>
            <a:endParaRPr lang="en-US" sz="1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3347CBD-4616-1808-7685-7870FA40F553}"/>
              </a:ext>
            </a:extLst>
          </p:cNvPr>
          <p:cNvSpPr/>
          <p:nvPr/>
        </p:nvSpPr>
        <p:spPr>
          <a:xfrm>
            <a:off x="3246120" y="1078992"/>
            <a:ext cx="2651760" cy="1559966"/>
          </a:xfrm>
          <a:prstGeom prst="roundRect">
            <a:avLst>
              <a:gd name="adj" fmla="val 5275"/>
            </a:avLst>
          </a:prstGeom>
          <a:solidFill>
            <a:srgbClr val="FFFFFF"/>
          </a:solidFill>
          <a:ln w="9525">
            <a:solidFill>
              <a:srgbClr val="C2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4255827-7A69-F4F4-E421-2635E2F45EA2}"/>
              </a:ext>
            </a:extLst>
          </p:cNvPr>
          <p:cNvSpPr/>
          <p:nvPr/>
        </p:nvSpPr>
        <p:spPr>
          <a:xfrm>
            <a:off x="3383280" y="1170432"/>
            <a:ext cx="2377440" cy="256032"/>
          </a:xfrm>
          <a:prstGeom prst="roundRect">
            <a:avLst>
              <a:gd name="adj" fmla="val 21429"/>
            </a:avLst>
          </a:prstGeom>
          <a:solidFill>
            <a:srgbClr val="EBEEF5"/>
          </a:solidFill>
          <a:ln w="6350">
            <a:solidFill>
              <a:srgbClr val="CF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301B689-F892-0417-1226-BEF5DDD5CBCA}"/>
              </a:ext>
            </a:extLst>
          </p:cNvPr>
          <p:cNvSpPr/>
          <p:nvPr/>
        </p:nvSpPr>
        <p:spPr>
          <a:xfrm>
            <a:off x="3383280" y="117043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Patterns</a:t>
            </a:r>
            <a:endParaRPr lang="en-US" sz="11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48C91E4-3FC7-4C76-47DA-D28C2A7F4343}"/>
              </a:ext>
            </a:extLst>
          </p:cNvPr>
          <p:cNvSpPr/>
          <p:nvPr/>
        </p:nvSpPr>
        <p:spPr>
          <a:xfrm>
            <a:off x="3401568" y="1499616"/>
            <a:ext cx="2340864" cy="9930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estimate of the slope shows for every $6 the fare increases, the tip increases $1</a:t>
            </a:r>
            <a:endParaRPr lang="en-US" sz="10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E7E83C1-B77B-F8C1-9E28-C1549953B8BD}"/>
              </a:ext>
            </a:extLst>
          </p:cNvPr>
          <p:cNvSpPr/>
          <p:nvPr/>
        </p:nvSpPr>
        <p:spPr>
          <a:xfrm>
            <a:off x="5989320" y="1078992"/>
            <a:ext cx="2651760" cy="1559966"/>
          </a:xfrm>
          <a:prstGeom prst="roundRect">
            <a:avLst>
              <a:gd name="adj" fmla="val 5275"/>
            </a:avLst>
          </a:prstGeom>
          <a:solidFill>
            <a:srgbClr val="FFFFFF"/>
          </a:solidFill>
          <a:ln w="9525">
            <a:solidFill>
              <a:srgbClr val="C2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A6A144A-2686-FD26-061C-1F9757BEF8C3}"/>
              </a:ext>
            </a:extLst>
          </p:cNvPr>
          <p:cNvSpPr/>
          <p:nvPr/>
        </p:nvSpPr>
        <p:spPr>
          <a:xfrm>
            <a:off x="6126480" y="1170432"/>
            <a:ext cx="2377440" cy="256032"/>
          </a:xfrm>
          <a:prstGeom prst="roundRect">
            <a:avLst>
              <a:gd name="adj" fmla="val 21429"/>
            </a:avLst>
          </a:prstGeom>
          <a:solidFill>
            <a:srgbClr val="EBEEF5"/>
          </a:solidFill>
          <a:ln w="6350">
            <a:solidFill>
              <a:srgbClr val="CF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99010E1-11CC-0139-6669-65127C31C42D}"/>
              </a:ext>
            </a:extLst>
          </p:cNvPr>
          <p:cNvSpPr/>
          <p:nvPr/>
        </p:nvSpPr>
        <p:spPr>
          <a:xfrm>
            <a:off x="6126480" y="117043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effects</a:t>
            </a:r>
            <a:endParaRPr lang="en-US" sz="11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E70BC46-EE2B-C129-2B92-EC2AE9C0BC4B}"/>
              </a:ext>
            </a:extLst>
          </p:cNvPr>
          <p:cNvSpPr/>
          <p:nvPr/>
        </p:nvSpPr>
        <p:spPr>
          <a:xfrm>
            <a:off x="6144768" y="1499616"/>
            <a:ext cx="2340864" cy="9930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space for hour-of-day, day-of-week, or trip-length trends if they mattered.</a:t>
            </a:r>
            <a:endParaRPr lang="en-US" sz="10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00BF30FA-CE6C-805F-BBE1-66E8DAC4F092}"/>
              </a:ext>
            </a:extLst>
          </p:cNvPr>
          <p:cNvSpPr/>
          <p:nvPr/>
        </p:nvSpPr>
        <p:spPr>
          <a:xfrm>
            <a:off x="502920" y="2748686"/>
            <a:ext cx="8138160" cy="2230222"/>
          </a:xfrm>
          <a:prstGeom prst="roundRect">
            <a:avLst>
              <a:gd name="adj" fmla="val 3690"/>
            </a:avLst>
          </a:prstGeom>
          <a:solidFill>
            <a:srgbClr val="EBEEF5"/>
          </a:solidFill>
          <a:ln w="9525">
            <a:solidFill>
              <a:srgbClr val="C2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1E03EE8-62C7-2545-FA45-E102E7787163}"/>
              </a:ext>
            </a:extLst>
          </p:cNvPr>
          <p:cNvSpPr/>
          <p:nvPr/>
        </p:nvSpPr>
        <p:spPr>
          <a:xfrm>
            <a:off x="502920" y="2748686"/>
            <a:ext cx="8138160" cy="2230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C8A4664-2001-BC5C-184B-D6C7D07B37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870" y="2967266"/>
            <a:ext cx="3657600" cy="1625600"/>
          </a:xfrm>
          <a:prstGeom prst="roundRect">
            <a:avLst>
              <a:gd name="adj" fmla="val 7603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F12B195-D055-F600-02B1-4BA3B89B2C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531" y="2967266"/>
            <a:ext cx="3657600" cy="1625600"/>
          </a:xfrm>
          <a:prstGeom prst="roundRect">
            <a:avLst>
              <a:gd name="adj" fmla="val 7603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2787789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220" dirty="0">
                <a:solidFill>
                  <a:srgbClr val="1C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Missing Values and Outliers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978408"/>
            <a:ext cx="8138160" cy="16459"/>
          </a:xfrm>
          <a:prstGeom prst="rect">
            <a:avLst/>
          </a:prstGeom>
          <a:solidFill>
            <a:srgbClr val="CFCDC8"/>
          </a:solidFill>
          <a:ln w="12700">
            <a:solidFill>
              <a:srgbClr val="CF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4005072" cy="2651943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9525">
            <a:solidFill>
              <a:srgbClr val="C2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04088" y="1207008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Missing values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04088" y="1536192"/>
            <a:ext cx="3730752" cy="20301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spcAft>
                <a:spcPts val="1600"/>
              </a:spcAft>
              <a:buSzPct val="100000"/>
              <a:buChar char="•"/>
            </a:pPr>
            <a:r>
              <a:rPr lang="en-US" sz="105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fields had missing data?</a:t>
            </a:r>
            <a:endParaRPr lang="en-US" sz="1050" dirty="0"/>
          </a:p>
          <a:p>
            <a:pPr marL="101600" indent="-101600">
              <a:spcAft>
                <a:spcPts val="1600"/>
              </a:spcAft>
              <a:buSzPct val="100000"/>
              <a:buChar char="•"/>
            </a:pPr>
            <a:r>
              <a:rPr lang="en-US" sz="105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data was affected?</a:t>
            </a:r>
            <a:endParaRPr lang="en-US" sz="1050" dirty="0"/>
          </a:p>
          <a:p>
            <a:pPr marL="101600" indent="-101600">
              <a:spcAft>
                <a:spcPts val="1600"/>
              </a:spcAft>
              <a:buSzPct val="100000"/>
              <a:buChar char="•"/>
            </a:pPr>
            <a:r>
              <a:rPr lang="en-US" sz="105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 impute, remove, or retain missing records?</a:t>
            </a:r>
            <a:endParaRPr lang="en-US" sz="1050" dirty="0"/>
          </a:p>
          <a:p>
            <a:pPr marL="101600" indent="-101600">
              <a:spcAft>
                <a:spcPts val="1600"/>
              </a:spcAft>
              <a:buSzPct val="100000"/>
              <a:buChar char="•"/>
            </a:pPr>
            <a:r>
              <a:rPr lang="en-US" sz="105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was that choice reasonable?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36008" y="1078992"/>
            <a:ext cx="4005072" cy="2651943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9525">
            <a:solidFill>
              <a:srgbClr val="C2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37176" y="1207008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Outlier handling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837176" y="1536192"/>
            <a:ext cx="3730752" cy="20301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spcAft>
                <a:spcPts val="1600"/>
              </a:spcAft>
              <a:buSzPct val="100000"/>
              <a:buChar char="•"/>
            </a:pPr>
            <a:r>
              <a:rPr lang="en-US" sz="105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unrealistic fares, distances, or tips.</a:t>
            </a:r>
            <a:endParaRPr lang="en-US" sz="1050" dirty="0"/>
          </a:p>
          <a:p>
            <a:pPr marL="101600" indent="-101600">
              <a:spcAft>
                <a:spcPts val="1600"/>
              </a:spcAft>
              <a:buSzPct val="100000"/>
              <a:buChar char="•"/>
            </a:pPr>
            <a:r>
              <a:rPr lang="en-US" sz="105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rule used to flag them.</a:t>
            </a:r>
            <a:endParaRPr lang="en-US" sz="1050" dirty="0"/>
          </a:p>
          <a:p>
            <a:pPr marL="101600" indent="-101600">
              <a:spcAft>
                <a:spcPts val="1600"/>
              </a:spcAft>
              <a:buSzPct val="100000"/>
              <a:buChar char="•"/>
            </a:pPr>
            <a:r>
              <a:rPr lang="en-US" sz="105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whether you capped or removed them.</a:t>
            </a:r>
            <a:endParaRPr lang="en-US" sz="1050" dirty="0"/>
          </a:p>
          <a:p>
            <a:pPr marL="101600" indent="-101600">
              <a:spcAft>
                <a:spcPts val="1600"/>
              </a:spcAft>
              <a:buSzPct val="100000"/>
              <a:buChar char="•"/>
            </a:pPr>
            <a:r>
              <a:rPr lang="en-US" sz="105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how cleaning improved model reliability.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3840663"/>
            <a:ext cx="2651760" cy="1138245"/>
          </a:xfrm>
          <a:prstGeom prst="roundRect">
            <a:avLst>
              <a:gd name="adj" fmla="val 6427"/>
            </a:avLst>
          </a:prstGeom>
          <a:solidFill>
            <a:srgbClr val="EBEEF5"/>
          </a:solidFill>
          <a:ln w="9525">
            <a:solidFill>
              <a:srgbClr val="C2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3913815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4188135"/>
            <a:ext cx="2651760" cy="7359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246120" y="3840663"/>
            <a:ext cx="2651760" cy="1138245"/>
          </a:xfrm>
          <a:prstGeom prst="roundRect">
            <a:avLst>
              <a:gd name="adj" fmla="val 6427"/>
            </a:avLst>
          </a:prstGeom>
          <a:solidFill>
            <a:srgbClr val="EBEEF5"/>
          </a:solidFill>
          <a:ln w="9525">
            <a:solidFill>
              <a:srgbClr val="C2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46120" y="3913815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46120" y="4188135"/>
            <a:ext cx="2651760" cy="7359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989320" y="3840663"/>
            <a:ext cx="2651760" cy="1138245"/>
          </a:xfrm>
          <a:prstGeom prst="roundRect">
            <a:avLst>
              <a:gd name="adj" fmla="val 6427"/>
            </a:avLst>
          </a:prstGeom>
          <a:solidFill>
            <a:srgbClr val="EBEEF5"/>
          </a:solidFill>
          <a:ln w="9525">
            <a:solidFill>
              <a:srgbClr val="C2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89320" y="3913815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89320" y="4188135"/>
            <a:ext cx="2651760" cy="7359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220" dirty="0">
                <a:solidFill>
                  <a:srgbClr val="1C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+ MODELS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Building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978408"/>
            <a:ext cx="8138160" cy="16459"/>
          </a:xfrm>
          <a:prstGeom prst="rect">
            <a:avLst/>
          </a:prstGeom>
          <a:solidFill>
            <a:srgbClr val="CFCDC8"/>
          </a:solidFill>
          <a:ln w="12700">
            <a:solidFill>
              <a:srgbClr val="CF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4005072" cy="3899916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 w="9525">
            <a:solidFill>
              <a:srgbClr val="C2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04088" y="1207008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outline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04088" y="183394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2264D"/>
          </a:solidFill>
          <a:ln w="12700">
            <a:solidFill>
              <a:srgbClr val="1226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04088" y="18339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8992" y="1554480"/>
            <a:ext cx="3346704" cy="8332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 or cross-validation strategy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04088" y="2667191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2264D"/>
          </a:solidFill>
          <a:ln w="12700">
            <a:solidFill>
              <a:srgbClr val="1226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04088" y="2667191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8992" y="2387727"/>
            <a:ext cx="3346704" cy="8332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and encoding choices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04088" y="350043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2264D"/>
          </a:solidFill>
          <a:ln w="12700">
            <a:solidFill>
              <a:srgbClr val="1226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04088" y="350043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8992" y="3220974"/>
            <a:ext cx="3346704" cy="8332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04088" y="4333685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2264D"/>
          </a:solidFill>
          <a:ln w="12700">
            <a:solidFill>
              <a:srgbClr val="1226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04088" y="4333685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8992" y="4054221"/>
            <a:ext cx="3346704" cy="8332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 used to choose the final model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36008" y="1078992"/>
            <a:ext cx="4005072" cy="3899916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 w="9525">
            <a:solidFill>
              <a:srgbClr val="C2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37176" y="1207008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Models tested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37176" y="15544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552944" y="155448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metric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37176" y="1865376"/>
            <a:ext cx="3584448" cy="164592"/>
          </a:xfrm>
          <a:prstGeom prst="rect">
            <a:avLst/>
          </a:prstGeom>
          <a:solidFill>
            <a:srgbClr val="CFCDC8"/>
          </a:solidFill>
          <a:ln w="12700">
            <a:solidFill>
              <a:srgbClr val="CF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37176" y="1865376"/>
            <a:ext cx="1254557" cy="164592"/>
          </a:xfrm>
          <a:prstGeom prst="rect">
            <a:avLst/>
          </a:prstGeom>
          <a:solidFill>
            <a:srgbClr val="12264D"/>
          </a:solidFill>
          <a:ln w="12700">
            <a:solidFill>
              <a:srgbClr val="1226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37176" y="26654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552944" y="2665476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metric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37176" y="2976372"/>
            <a:ext cx="3584448" cy="164592"/>
          </a:xfrm>
          <a:prstGeom prst="rect">
            <a:avLst/>
          </a:prstGeom>
          <a:solidFill>
            <a:srgbClr val="CFCDC8"/>
          </a:solidFill>
          <a:ln w="12700">
            <a:solidFill>
              <a:srgbClr val="CF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837176" y="2976372"/>
            <a:ext cx="2078980" cy="164592"/>
          </a:xfrm>
          <a:prstGeom prst="rect">
            <a:avLst/>
          </a:prstGeom>
          <a:solidFill>
            <a:srgbClr val="12264D"/>
          </a:solidFill>
          <a:ln w="12700">
            <a:solidFill>
              <a:srgbClr val="1226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37176" y="37764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552944" y="377647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metric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37176" y="4087368"/>
            <a:ext cx="3584448" cy="164592"/>
          </a:xfrm>
          <a:prstGeom prst="rect">
            <a:avLst/>
          </a:prstGeom>
          <a:solidFill>
            <a:srgbClr val="CFCDC8"/>
          </a:solidFill>
          <a:ln w="12700">
            <a:solidFill>
              <a:srgbClr val="CF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837176" y="4087368"/>
            <a:ext cx="2939247" cy="164592"/>
          </a:xfrm>
          <a:prstGeom prst="rect">
            <a:avLst/>
          </a:prstGeom>
          <a:solidFill>
            <a:srgbClr val="12264D"/>
          </a:solidFill>
          <a:ln w="12700">
            <a:solidFill>
              <a:srgbClr val="1226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37176" y="4905756"/>
            <a:ext cx="3730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with your actual model names and metric values.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220" dirty="0">
                <a:solidFill>
                  <a:srgbClr val="1C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Performance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978408"/>
            <a:ext cx="8138160" cy="16459"/>
          </a:xfrm>
          <a:prstGeom prst="rect">
            <a:avLst/>
          </a:prstGeom>
          <a:solidFill>
            <a:srgbClr val="CFCDC8"/>
          </a:solidFill>
          <a:ln w="12700">
            <a:solidFill>
              <a:srgbClr val="CF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2651760" cy="1169975"/>
          </a:xfrm>
          <a:prstGeom prst="roundRect">
            <a:avLst>
              <a:gd name="adj" fmla="val 7034"/>
            </a:avLst>
          </a:prstGeom>
          <a:solidFill>
            <a:srgbClr val="EBEEF5"/>
          </a:solidFill>
          <a:ln w="9525">
            <a:solidFill>
              <a:srgbClr val="C2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12648" y="1170432"/>
            <a:ext cx="2432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1408176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2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model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85800" y="1865376"/>
            <a:ext cx="2286000" cy="12802"/>
          </a:xfrm>
          <a:prstGeom prst="rect">
            <a:avLst/>
          </a:prstGeom>
          <a:solidFill>
            <a:srgbClr val="CFCDC8"/>
          </a:solidFill>
          <a:ln w="12700">
            <a:solidFill>
              <a:srgbClr val="CF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901952"/>
            <a:ext cx="2468880" cy="2738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final model selected.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1078992"/>
            <a:ext cx="2651760" cy="1169975"/>
          </a:xfrm>
          <a:prstGeom prst="roundRect">
            <a:avLst>
              <a:gd name="adj" fmla="val 7034"/>
            </a:avLst>
          </a:prstGeom>
          <a:solidFill>
            <a:srgbClr val="EBEEF5"/>
          </a:solidFill>
          <a:ln w="9525">
            <a:solidFill>
              <a:srgbClr val="C2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55848" y="1170432"/>
            <a:ext cx="2432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337560" y="1408176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2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score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3429000" y="1865376"/>
            <a:ext cx="2286000" cy="12802"/>
          </a:xfrm>
          <a:prstGeom prst="rect">
            <a:avLst/>
          </a:prstGeom>
          <a:solidFill>
            <a:srgbClr val="CFCDC8"/>
          </a:solidFill>
          <a:ln w="12700">
            <a:solidFill>
              <a:srgbClr val="CF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37560" y="1901952"/>
            <a:ext cx="2468880" cy="2738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RMSE, MAE, accuracy, or R².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89320" y="1078992"/>
            <a:ext cx="2651760" cy="1169975"/>
          </a:xfrm>
          <a:prstGeom prst="roundRect">
            <a:avLst>
              <a:gd name="adj" fmla="val 7034"/>
            </a:avLst>
          </a:prstGeom>
          <a:solidFill>
            <a:srgbClr val="EBEEF5"/>
          </a:solidFill>
          <a:ln w="9525">
            <a:solidFill>
              <a:srgbClr val="C2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99048" y="1170432"/>
            <a:ext cx="2432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080760" y="1408176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2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insight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172200" y="1865376"/>
            <a:ext cx="2286000" cy="12802"/>
          </a:xfrm>
          <a:prstGeom prst="rect">
            <a:avLst/>
          </a:prstGeom>
          <a:solidFill>
            <a:srgbClr val="CFCDC8"/>
          </a:solidFill>
          <a:ln w="12700">
            <a:solidFill>
              <a:srgbClr val="CF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80760" y="1901952"/>
            <a:ext cx="2468880" cy="2738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the result means in plain language.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2358695"/>
            <a:ext cx="8138160" cy="2620213"/>
          </a:xfrm>
          <a:prstGeom prst="roundRect">
            <a:avLst>
              <a:gd name="adj" fmla="val 3141"/>
            </a:avLst>
          </a:prstGeom>
          <a:solidFill>
            <a:srgbClr val="FFFFFF"/>
          </a:solidFill>
          <a:ln w="9525">
            <a:solidFill>
              <a:srgbClr val="C2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" y="2450135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comparison table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" y="2779319"/>
            <a:ext cx="7955280" cy="274320"/>
          </a:xfrm>
          <a:prstGeom prst="rect">
            <a:avLst/>
          </a:prstGeom>
          <a:solidFill>
            <a:srgbClr val="12264D"/>
          </a:solidFill>
          <a:ln w="12700">
            <a:solidFill>
              <a:srgbClr val="1226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7512" y="2779319"/>
            <a:ext cx="1975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52344" y="2779319"/>
            <a:ext cx="1975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1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37176" y="2779319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702552" y="2779319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4360" y="3053639"/>
            <a:ext cx="7955280" cy="611276"/>
          </a:xfrm>
          <a:prstGeom prst="rect">
            <a:avLst/>
          </a:prstGeom>
          <a:solidFill>
            <a:srgbClr val="FFFFFF"/>
          </a:solidFill>
          <a:ln w="3810">
            <a:solidFill>
              <a:srgbClr val="CF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67512" y="3053639"/>
            <a:ext cx="1975104" cy="6112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752344" y="3053639"/>
            <a:ext cx="1975104" cy="6112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37176" y="3053639"/>
            <a:ext cx="1755648" cy="6112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702552" y="3053639"/>
            <a:ext cx="1901952" cy="6112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94360" y="3664915"/>
            <a:ext cx="7955280" cy="611276"/>
          </a:xfrm>
          <a:prstGeom prst="rect">
            <a:avLst/>
          </a:prstGeom>
          <a:solidFill>
            <a:srgbClr val="EBEEF5"/>
          </a:solidFill>
          <a:ln w="3810">
            <a:solidFill>
              <a:srgbClr val="CF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67512" y="3664915"/>
            <a:ext cx="1975104" cy="6112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752344" y="3664915"/>
            <a:ext cx="1975104" cy="6112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37176" y="3664915"/>
            <a:ext cx="1755648" cy="6112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702552" y="3664915"/>
            <a:ext cx="1901952" cy="6112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94360" y="4276192"/>
            <a:ext cx="7955280" cy="611276"/>
          </a:xfrm>
          <a:prstGeom prst="rect">
            <a:avLst/>
          </a:prstGeom>
          <a:solidFill>
            <a:srgbClr val="FFFFFF"/>
          </a:solidFill>
          <a:ln w="3810">
            <a:solidFill>
              <a:srgbClr val="CF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67512" y="4276192"/>
            <a:ext cx="1975104" cy="6112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752344" y="4276192"/>
            <a:ext cx="1975104" cy="6112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37176" y="4276192"/>
            <a:ext cx="1755648" cy="6112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702552" y="4276192"/>
            <a:ext cx="1901952" cy="6112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220" dirty="0">
                <a:solidFill>
                  <a:srgbClr val="1C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RShiny App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978408"/>
            <a:ext cx="8138160" cy="16459"/>
          </a:xfrm>
          <a:prstGeom prst="rect">
            <a:avLst/>
          </a:prstGeom>
          <a:solidFill>
            <a:srgbClr val="CFCDC8"/>
          </a:solidFill>
          <a:ln w="12700">
            <a:solidFill>
              <a:srgbClr val="CF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4005072" cy="3899916"/>
          </a:xfrm>
          <a:prstGeom prst="roundRect">
            <a:avLst>
              <a:gd name="adj" fmla="val 2110"/>
            </a:avLst>
          </a:prstGeom>
          <a:solidFill>
            <a:srgbClr val="EBEEF5"/>
          </a:solidFill>
          <a:ln w="9525">
            <a:solidFill>
              <a:srgbClr val="C2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04088" y="1207008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screenshot placeholder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04088" y="1517904"/>
            <a:ext cx="3730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this space with a screenshot of the RShiny app home screen or prediction interface.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04088" y="2395728"/>
            <a:ext cx="1755648" cy="1209294"/>
          </a:xfrm>
          <a:prstGeom prst="roundRect">
            <a:avLst>
              <a:gd name="adj" fmla="val 5293"/>
            </a:avLst>
          </a:prstGeom>
          <a:solidFill>
            <a:srgbClr val="FFFFFF"/>
          </a:solidFill>
          <a:ln w="9525">
            <a:solidFill>
              <a:srgbClr val="C2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04088" y="2395728"/>
            <a:ext cx="1755648" cy="12092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2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controls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51176" y="2395728"/>
            <a:ext cx="1755648" cy="1209294"/>
          </a:xfrm>
          <a:prstGeom prst="roundRect">
            <a:avLst>
              <a:gd name="adj" fmla="val 5293"/>
            </a:avLst>
          </a:prstGeom>
          <a:solidFill>
            <a:srgbClr val="FFFFFF"/>
          </a:solidFill>
          <a:ln w="9525">
            <a:solidFill>
              <a:srgbClr val="C2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51176" y="2395728"/>
            <a:ext cx="1755648" cy="12092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2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output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04088" y="3696462"/>
            <a:ext cx="1755648" cy="1209294"/>
          </a:xfrm>
          <a:prstGeom prst="roundRect">
            <a:avLst>
              <a:gd name="adj" fmla="val 5293"/>
            </a:avLst>
          </a:prstGeom>
          <a:solidFill>
            <a:srgbClr val="FFFFFF"/>
          </a:solidFill>
          <a:ln w="9525">
            <a:solidFill>
              <a:srgbClr val="C2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04088" y="3696462"/>
            <a:ext cx="1755648" cy="12092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2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51176" y="3696462"/>
            <a:ext cx="1755648" cy="1209294"/>
          </a:xfrm>
          <a:prstGeom prst="roundRect">
            <a:avLst>
              <a:gd name="adj" fmla="val 5293"/>
            </a:avLst>
          </a:prstGeom>
          <a:solidFill>
            <a:srgbClr val="FFFFFF"/>
          </a:solidFill>
          <a:ln w="9525">
            <a:solidFill>
              <a:srgbClr val="C2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551176" y="3696462"/>
            <a:ext cx="1755648" cy="12092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2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feedback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36008" y="1078992"/>
            <a:ext cx="4005072" cy="3899916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 w="9525">
            <a:solidFill>
              <a:srgbClr val="C2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37176" y="1207008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to explain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37176" y="1536192"/>
            <a:ext cx="3730752" cy="32964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spcAft>
                <a:spcPts val="1800"/>
              </a:spcAft>
              <a:buSzPct val="100000"/>
              <a:buChar char="•"/>
            </a:pPr>
            <a:r>
              <a:rPr lang="en-US" sz="105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user can input</a:t>
            </a:r>
            <a:endParaRPr lang="en-US" sz="1050" dirty="0"/>
          </a:p>
          <a:p>
            <a:pPr marL="101600" indent="-101600">
              <a:spcAft>
                <a:spcPts val="1800"/>
              </a:spcAft>
              <a:buSzPct val="100000"/>
              <a:buChar char="•"/>
            </a:pPr>
            <a:r>
              <a:rPr lang="en-US" sz="105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app predicts or displays</a:t>
            </a:r>
            <a:endParaRPr lang="en-US" sz="1050" dirty="0"/>
          </a:p>
          <a:p>
            <a:pPr marL="101600" indent="-101600">
              <a:spcAft>
                <a:spcPts val="1800"/>
              </a:spcAft>
              <a:buSzPct val="100000"/>
              <a:buChar char="•"/>
            </a:pPr>
            <a:r>
              <a:rPr lang="en-US" sz="105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app makes the project more interactive</a:t>
            </a:r>
            <a:endParaRPr lang="en-US" sz="1050" dirty="0"/>
          </a:p>
          <a:p>
            <a:pPr marL="101600" indent="-101600">
              <a:spcAft>
                <a:spcPts val="1800"/>
              </a:spcAft>
              <a:buSzPct val="100000"/>
              <a:buChar char="•"/>
            </a:pPr>
            <a:r>
              <a:rPr lang="en-US" sz="105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deployment matters beyond just training a model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220" dirty="0">
                <a:solidFill>
                  <a:srgbClr val="1C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Component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978408"/>
            <a:ext cx="8138160" cy="16459"/>
          </a:xfrm>
          <a:prstGeom prst="rect">
            <a:avLst/>
          </a:prstGeom>
          <a:solidFill>
            <a:srgbClr val="CFCDC8"/>
          </a:solidFill>
          <a:ln w="12700">
            <a:solidFill>
              <a:srgbClr val="CF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2651760" cy="1637965"/>
          </a:xfrm>
          <a:prstGeom prst="roundRect">
            <a:avLst>
              <a:gd name="adj" fmla="val 5024"/>
            </a:avLst>
          </a:prstGeom>
          <a:solidFill>
            <a:srgbClr val="FFFFFF"/>
          </a:solidFill>
          <a:ln w="9525">
            <a:solidFill>
              <a:srgbClr val="C2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30936" y="1170432"/>
            <a:ext cx="2395728" cy="256032"/>
          </a:xfrm>
          <a:prstGeom prst="roundRect">
            <a:avLst>
              <a:gd name="adj" fmla="val 17857"/>
            </a:avLst>
          </a:prstGeom>
          <a:solidFill>
            <a:srgbClr val="EBEEF5"/>
          </a:solidFill>
          <a:ln w="6350">
            <a:solidFill>
              <a:srgbClr val="CF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30936" y="1170432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9224" y="1499616"/>
            <a:ext cx="2359152" cy="10710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what information the system looks up, such as project documentation, taxi rules, or experiment notes.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078992"/>
            <a:ext cx="2651760" cy="1637965"/>
          </a:xfrm>
          <a:prstGeom prst="roundRect">
            <a:avLst>
              <a:gd name="adj" fmla="val 5024"/>
            </a:avLst>
          </a:prstGeom>
          <a:solidFill>
            <a:srgbClr val="FFFFFF"/>
          </a:solidFill>
          <a:ln w="9525">
            <a:solidFill>
              <a:srgbClr val="C2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74136" y="1170432"/>
            <a:ext cx="2395728" cy="256032"/>
          </a:xfrm>
          <a:prstGeom prst="roundRect">
            <a:avLst>
              <a:gd name="adj" fmla="val 17857"/>
            </a:avLst>
          </a:prstGeom>
          <a:solidFill>
            <a:srgbClr val="EBEEF5"/>
          </a:solidFill>
          <a:ln w="6350">
            <a:solidFill>
              <a:srgbClr val="CF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74136" y="1170432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92424" y="1499616"/>
            <a:ext cx="2359152" cy="10710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the user asks and what kind of response the system produces.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89320" y="1078992"/>
            <a:ext cx="2651760" cy="1637965"/>
          </a:xfrm>
          <a:prstGeom prst="roundRect">
            <a:avLst>
              <a:gd name="adj" fmla="val 5024"/>
            </a:avLst>
          </a:prstGeom>
          <a:solidFill>
            <a:srgbClr val="FFFFFF"/>
          </a:solidFill>
          <a:ln w="9525">
            <a:solidFill>
              <a:srgbClr val="C2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17336" y="1170432"/>
            <a:ext cx="2395728" cy="256032"/>
          </a:xfrm>
          <a:prstGeom prst="roundRect">
            <a:avLst>
              <a:gd name="adj" fmla="val 17857"/>
            </a:avLst>
          </a:prstGeom>
          <a:solidFill>
            <a:srgbClr val="EBEEF5"/>
          </a:solidFill>
          <a:ln w="6350">
            <a:solidFill>
              <a:srgbClr val="CF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17336" y="1170432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35624" y="1499616"/>
            <a:ext cx="2359152" cy="10710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how the RAG feature complements the prediction model rather than replacing it.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2826685"/>
            <a:ext cx="8138160" cy="2152223"/>
          </a:xfrm>
          <a:prstGeom prst="roundRect">
            <a:avLst>
              <a:gd name="adj" fmla="val 3824"/>
            </a:avLst>
          </a:prstGeom>
          <a:solidFill>
            <a:srgbClr val="EBEEF5"/>
          </a:solidFill>
          <a:ln w="9525">
            <a:solidFill>
              <a:srgbClr val="C2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" y="2918125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Simple way to present it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3229021"/>
            <a:ext cx="45720" cy="1676735"/>
          </a:xfrm>
          <a:prstGeom prst="rect">
            <a:avLst/>
          </a:prstGeom>
          <a:solidFill>
            <a:srgbClr val="12264D"/>
          </a:solidFill>
          <a:ln w="12700">
            <a:solidFill>
              <a:srgbClr val="1226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50392" y="3229021"/>
            <a:ext cx="7717536" cy="11066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added a retrieval-augmented generation component so users can ask natural-language questions about the project or results and receive answers grounded in project-specific information."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50392" y="4369201"/>
            <a:ext cx="7717536" cy="503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6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this wording to match your actual implementation.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2264D"/>
          </a:solidFill>
          <a:ln w="12700">
            <a:solidFill>
              <a:srgbClr val="1226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668012"/>
            <a:ext cx="9144000" cy="47548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4668012"/>
            <a:ext cx="8887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Yellow Taxi Tip Prediction  ·  MSDS 6306 Doing Data Science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220" dirty="0">
                <a:solidFill>
                  <a:srgbClr val="1C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SLIDE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8138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02920" y="1078992"/>
            <a:ext cx="8138160" cy="16459"/>
          </a:xfrm>
          <a:prstGeom prst="rect">
            <a:avLst/>
          </a:prstGeom>
          <a:solidFill>
            <a:srgbClr val="CFCDC8"/>
          </a:solidFill>
          <a:ln w="12700">
            <a:solidFill>
              <a:srgbClr val="CF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1584198"/>
            <a:ext cx="265176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9525">
            <a:solidFill>
              <a:srgbClr val="C2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74879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041398"/>
            <a:ext cx="22860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main result from your project.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1584198"/>
            <a:ext cx="265176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9525">
            <a:solidFill>
              <a:srgbClr val="C2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29000" y="174879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2041398"/>
            <a:ext cx="22860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one realistic limitation of the data or model.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89320" y="1584198"/>
            <a:ext cx="265176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9525">
            <a:solidFill>
              <a:srgbClr val="C2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72200" y="174879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2041398"/>
            <a:ext cx="22860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one improvement you would make in future work.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3826764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26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02920" y="422910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Isabella Westlauer  ·  Josh Samuel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881</Words>
  <Application>Microsoft Office PowerPoint</Application>
  <PresentationFormat>On-screen Show (16:9)</PresentationFormat>
  <Paragraphs>182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Trebuchet MS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NYC Yellow Taxi Tip Prediction</dc:title>
  <dc:subject>PptxGenJS Presentation</dc:subject>
  <dc:creator>PptxGenJS</dc:creator>
  <cp:lastModifiedBy>Westlauer, Isabella</cp:lastModifiedBy>
  <cp:revision>9</cp:revision>
  <dcterms:created xsi:type="dcterms:W3CDTF">2026-04-12T20:51:05Z</dcterms:created>
  <dcterms:modified xsi:type="dcterms:W3CDTF">2026-04-13T02:41:18Z</dcterms:modified>
</cp:coreProperties>
</file>